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df1014a-1d44-6160-6c91-0783669f59ea}">
          <p14:sldIdLst>
            <p14:sldId id="256"/>
          </p14:sldIdLst>
        </p14:section>
        <p14:section name="Why" id="{1ebc8b9d-2800-d1e4-2e2e-6e2ebe44d800}">
          <p14:sldIdLst>
            <p14:sldId id="257"/>
            <p14:sldId id="258"/>
          </p14:sldIdLst>
        </p14:section>
        <p14:section name="What it is" id="{67c3e8df-fa0c-c4af-72ac-41a7ac6a0d6b}">
          <p14:sldIdLst>
            <p14:sldId id="259"/>
            <p14:sldId id="260"/>
          </p14:sldIdLst>
        </p14:section>
        <p14:section name="Highlights" id="{66185ac4-1c06-3f54-e475-aceb67cbdbeb}">
          <p14:sldIdLst>
            <p14:sldId id="261"/>
            <p14:sldId id="262"/>
            <p14:sldId id="263"/>
          </p14:sldIdLst>
        </p14:section>
        <p14:section name="Platform" id="{874db1f1-afbf-ea68-f7e2-651c993c2192}">
          <p14:sldIdLst>
            <p14:sldId id="264"/>
          </p14:sldIdLst>
        </p14:section>
        <p14:section name="Close" id="{809a8d87-479b-4b33-f6bc-678e1bc1010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introductions. One sentence: one CRM for every desk — lending, wealth, funds, trading, advisory, forex and compliance — that follows your rules and that your own team can change without developers. Everything on screen today is the Genesis Capital demo workspace; all people and documents are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back to them, then ask: "Is this still right? What would you add?" Let them talk and reuse their words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coming back to these three ideas. Each scene of the demo proves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financial-services setup is one configuration pack on the Genesis platform: lending, wealth, funds, securities, corporate advisory and forex, plus compliance, marketing, introducers and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follows one client, Karine Ruhee, wherever it can. Scene 1: website form to routed enquiry with SLA clock. 2: Client 360 and masked ID. 3: loan approval and offer letter. 4: refused fund order and audit chain. 5: Project Dodo invisible to the trader. 6: client portal. 7: French labels and an FX deal. 8: Group Executive dashboard and a live Builder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2. Open Annabelle Ramful: relationship value about MUR 301 million across business lines. Click Reveal on the masked ID — Compliance will see that reveal in the audit chain in Scene 4. Open Mascarene Capital Partners: advisory work shows as restricted.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Scenes 4 and 5. The fund order for a conservative client is refused. Compliance sees the ID in full and finds the RM’s reveal in the audit chain. The trader searches for Project Dodo and finds nothing — confidential work is not hidden behind a button, it is simply not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6 and the Scene 3 upload step. Sign in to the portal as Karine Ruhee, show the approved loan and fund holdings, upload a document and message the RM; the message appears on her record in the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8 shows the live change. Technical summary: React front end, Node.js API, MySQL, Redis, in Docker. Every record has an external reference, so data can be migrated, checked and re-loaded safely. Going live with a provider means entering its connection details — the workflows do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ideas in their words. Be open about the roadmap items — say: "This is configured and working against a sandbox; to go live we need your credentials, and nothing in the workflow changes." Agree a date for the follow-up and who attends. Follow-up email within 24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Genesis Capital CRM  ·  Client demonstration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BFC"/>
                </a:solidFill>
              </a:rPr>
              <a:t>CLIENT DEMONSTRATION  ·  OCTOBER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Genesis Capital CRM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One CRM for every desk — built around your rules, and changeable by your own team.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03604" y="3383280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03604" y="3383280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Wealth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80844" y="3383280"/>
            <a:ext cx="58978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80844" y="3383280"/>
            <a:ext cx="589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338328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338328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Securities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68496" y="33832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68496" y="33832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Advisory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01184" y="3383280"/>
            <a:ext cx="58978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01184" y="3383280"/>
            <a:ext cx="589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Forex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00700" y="338328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00700" y="338328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WE HEARD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Five problems we set out to solve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20624" cy="42062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50" y="1399398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29844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Client data is split by business line — nobody sees the whole relationship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938528"/>
            <a:ext cx="420624" cy="42062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50" y="2039478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9385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Lending runs on email and spreadsheets — status is hard to know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578608"/>
            <a:ext cx="420624" cy="42062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50" y="2679558"/>
            <a:ext cx="218724" cy="2187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257860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KYC, suitability and conflict checks rely on memory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57200" y="3218688"/>
            <a:ext cx="420624" cy="42062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50" y="3319638"/>
            <a:ext cx="218724" cy="2187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321868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Advisory work must stay behind Chinese walls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57200" y="3858768"/>
            <a:ext cx="420624" cy="42062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50" y="3959718"/>
            <a:ext cx="218724" cy="2187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51560" y="385876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Management reporting is rebuilt by hand every month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5669280" y="1298448"/>
            <a:ext cx="3017520" cy="2980944"/>
          </a:xfrm>
          <a:prstGeom prst="roundRect">
            <a:avLst>
              <a:gd name="adj" fmla="val 4294"/>
            </a:avLst>
          </a:prstGeom>
          <a:solidFill>
            <a:schemeClr val="tx2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594360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BFC"/>
                </a:solidFill>
              </a:rPr>
              <a:t>OUR ANSWER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594360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One CRM for every desk that follows your rules — KYC, suitability, Chinese walls, four-eyes approvals — and that your own team can change without developers.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94360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ABFC"/>
                </a:solidFill>
              </a:rPr>
              <a:t>One view  ·  Rules built in  ·  Yours to change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THE APPROACH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ideas run through everything you will see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01752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7318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One client view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desk works on the same client record, with exactly the detail their role allows.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In the demo: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Client 360 · RM Workbench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51760" cy="301752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34" y="17318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Rules built in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KYC, suitability, Chinese walls and four-eyes approvals run inside the process — not on a checklist.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In the demo: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A refused fund order · a trader’s empty search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325880"/>
            <a:ext cx="2651760" cy="301752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17318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Yours to change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Screens, fields, stages, workflows and dashboards are settings, not code.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In the demo: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A pipeline stage renamed live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Configured for a six-entity financial group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business units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280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modules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04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71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business objects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304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871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automated workflows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live dashboards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products &amp; services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17136" y="1271016"/>
            <a:ext cx="4178808" cy="2144268"/>
          </a:xfrm>
          <a:prstGeom prst="roundRect">
            <a:avLst>
              <a:gd name="adj" fmla="val 341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50800" dir="5400000">
              <a:srgbClr val="1E1B4B">
                <a:alpha val="18000"/>
              </a:srgbClr>
            </a:outerShdw>
          </a:effectLst>
        </p:spPr>
      </p:sp>
      <p:pic>
        <p:nvPicPr>
          <p:cNvPr id="17" name="Image 0" descr="/private/tmp/claude-501/-Users-bhavin-jariwala-Documents-workspaces-genesis-insure-genesis/c97fb13e-420f-458c-8bec-e49826be4ebf/scratchpad/frames/workben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25880"/>
            <a:ext cx="4069080" cy="20345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0" y="35433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My Workbench — an RM’s day on one screen. Every figure is live and limited to their own book.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English and French throughout: business vocabulary, letters and client emails.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ONE CLIENT, END TO END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website enquiry to client portal — no re-typing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73352"/>
            <a:ext cx="7223760" cy="0"/>
          </a:xfrm>
          <a:prstGeom prst="line">
            <a:avLst/>
          </a:prstGeom>
          <a:noFill/>
          <a:ln w="254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61" y="1516441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Website enquiry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routed, SLA clock 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76272" y="1371600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113" y="1516441"/>
            <a:ext cx="313822" cy="31382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56232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Client &amp; KYC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856232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created in one step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21024" y="137160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865" y="1516441"/>
            <a:ext cx="313822" cy="31382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00984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Loan application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300984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checklist, credit bureau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65776" y="1371600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617" y="1516441"/>
            <a:ext cx="313822" cy="31382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45736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Four-eyes approval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745736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maker ≠ checker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510528" y="137160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369" y="1516441"/>
            <a:ext cx="313822" cy="31382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190488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Offer &amp; e-sign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190488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letter generated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955280" y="1371600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121" y="1516441"/>
            <a:ext cx="313822" cy="31382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63524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Client portal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763524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status, upload, message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31520" y="3090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TODAY’S LIVE DEMO  ·  8 SCENES  ·  ABOUT 35 MINUTES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731520" y="3493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Website to enquiry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670048" y="3493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whole client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4608576" y="3493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Loan to approval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6547104" y="3493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Compliance in the flow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3950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Chinese walls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2670048" y="3950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 portal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4608576" y="3950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French and forex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547104" y="3950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Management 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ONE CLIENT 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desk, one client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" y="1271016"/>
            <a:ext cx="4956048" cy="2532888"/>
          </a:xfrm>
          <a:prstGeom prst="roundRect">
            <a:avLst>
              <a:gd name="adj" fmla="val 2888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50800" dir="5400000">
              <a:srgbClr val="1E1B4B">
                <a:alpha val="18000"/>
              </a:srgbClr>
            </a:outerShdw>
          </a:effectLst>
        </p:spPr>
      </p:sp>
      <p:pic>
        <p:nvPicPr>
          <p:cNvPr id="5" name="Image 0" descr="/private/tmp/claude-501/-Users-bhavin-jariwala-Documents-workspaces-genesis-insure-genesis/c97fb13e-420f-458c-8bec-e49826be4ebf/scratchpad/frames/client3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846320" cy="2423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3258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670" y="1426830"/>
            <a:ext cx="218724" cy="2187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whole relationship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Products, AUM, loans, documents and history across every entity.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760720" y="22402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670" y="2341230"/>
            <a:ext cx="218724" cy="2187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093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Private by default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 numbers are masked; each reveal is recorded with who and when.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760720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670" y="325563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0936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Next-best actions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30936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Rules suggest the right product at the right moment.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RULES BUILT 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Compliance runs inside the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99616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18" y="1600566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KYC / CDD / AML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Cases, screening hits, risk scoring and periodic review.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1298448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65576" y="1499616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526" y="1600566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95928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Suitability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65576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Orders above the client’s risk profile are refused unless justified.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71616" y="1298448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499616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734" y="1600566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03136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Chinese walls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Barrier zones and insider lists hide confidential deals entirely.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871216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07238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18" y="3173334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Four-eyes approvals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" y="36027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Whoever prepares a payment or order can never approve it.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64408" y="2871216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65576" y="307238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526" y="3173334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95928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protection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65576" y="36027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Sensitive fields encrypted and masked; consent tracked.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71616" y="2871216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72784" y="307238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734" y="3173334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03136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 chain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72784" y="36027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Tamper-evident record of changes, approvals and reveals.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CLIENTS SERVED DIGITALLY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Fewer calls and emails, faster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56816" cy="274320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69566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40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 &amp; introducer portal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Applications, loans, holdings with Redeem and Invest, documents, messages.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325880"/>
            <a:ext cx="1956816" cy="274320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88920" y="157276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815" y="169566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240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Secure upload links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83464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Signed, expiring links show only what is still needed. No email attachments.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325880"/>
            <a:ext cx="1956816" cy="274320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92040" y="157276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35" y="169566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240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 forms &amp; calculators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83464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Bilingual intake that lands routed, with the product preselected.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66560" y="1325880"/>
            <a:ext cx="1956816" cy="274320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95160" y="157276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055" y="1695663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2240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Website feeds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283464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FX rates, fund NAVs and the prime lending rate for your website.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Clients sign in to the portal with a one-time code sent to the email on their record — no extra password to manage.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UNDER THE HOOD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Built to change, safe to run, ready to connect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Built to change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No-code Builder: fields, forms, stages, workflows, approvals, dashboards, roles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Changes go live in minutes — no release, no developer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Whole setup ships as one installable pack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298448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508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6184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96512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Secure by design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03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Two-factor sign-in that policy can enforce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AES-256-GCM encryption of sensitive fields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Sessions revoked instantly; workspaces kept apart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298448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6184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31152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Ready to connect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103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Screening, credit bureau, loan system, transfer agent, OMS, FX dealing, SMS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Running on a sandbox today; live with your credentials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Docker: your cloud or your data centre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580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Stack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React  ·  Node.js  ·  MySQL  ·  Redis  ·  Docker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      Migration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external reference on every record — safe, repeatable loads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BFC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demo to go-live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Discovery workshop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Half a day per business line: processes, roles, reports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95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Hosted sandbox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2–4 weeks for your own testers, demo data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Integration list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73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Systems, providers and credential owners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721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Phased go-live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Lending &amp; client view → wealth &amp; funds → advisory &amp; FX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508760"/>
            <a:ext cx="3017520" cy="2331720"/>
          </a:xfrm>
          <a:prstGeom prst="roundRect">
            <a:avLst>
              <a:gd name="adj" fmla="val 549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BFC"/>
                </a:solidFill>
              </a:rPr>
              <a:t>ON THE ROADMAP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205740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Single sign-on (Entra ID / Google)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Live provider connections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Outlook / Google calendar sync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WhatsApp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Self-service reports on every object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French for menus and dashboards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0ABFC"/>
                </a:solidFill>
              </a:rPr>
              <a:t>Which part would make the biggest difference to your team first?</a:t>
            </a:r>
            <a:endParaRPr lang="en-US" sz="1400" dirty="0"/>
          </a:p>
        </p:txBody>
      </p:sp>
      <p:sp>
        <p:nvSpPr>
          <p:cNvPr id="25" name="Text 0"/>
          <p:cNvSpPr/>
          <p:nvPr>
            <p:ph idx="100" type="title" hasCustomPrompt="1"/>
          </p:nvPr>
        </p:nvSpPr>
        <p:spPr>
          <a:xfrm>
            <a:off x="548640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Capital">
  <a:themeElements>
    <a:clrScheme name="Genesis Capital">
      <a:dk1>
        <a:srgbClr val="1F2937"/>
      </a:dk1>
      <a:lt1>
        <a:srgbClr val="FFFFFF"/>
      </a:lt1>
      <a:dk2>
        <a:srgbClr val="14123A"/>
      </a:dk2>
      <a:lt2>
        <a:srgbClr val="F3F2FF"/>
      </a:lt2>
      <a:accent1>
        <a:srgbClr val="4F46E5"/>
      </a:accent1>
      <a:accent2>
        <a:srgbClr val="C026D3"/>
      </a:accent2>
      <a:accent3>
        <a:srgbClr val="7C3AED"/>
      </a:accent3>
      <a:accent4>
        <a:srgbClr val="0D9488"/>
      </a:accent4>
      <a:accent5>
        <a:srgbClr val="D97706"/>
      </a:accent5>
      <a:accent6>
        <a:srgbClr val="64748B"/>
      </a:accent6>
      <a:hlink>
        <a:srgbClr val="4F46E5"/>
      </a:hlink>
      <a:folHlink>
        <a:srgbClr val="7C3AED"/>
      </a:folHlink>
    </a:clrScheme>
    <a:fontScheme name="Genesis Capit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Genesis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Genesis CRM</dc:creator>
  <cp:lastModifiedBy>Genesis CRM</cp:lastModifiedBy>
  <cp:revision>1</cp:revision>
  <dcterms:created xsi:type="dcterms:W3CDTF">2026-10-21T11:17:51Z</dcterms:created>
  <dcterms:modified xsi:type="dcterms:W3CDTF">2026-10-21T11:17:51Z</dcterms:modified>
</cp:coreProperties>
</file>