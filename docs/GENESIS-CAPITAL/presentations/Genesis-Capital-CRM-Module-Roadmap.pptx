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49f0e82-f5ce-6d80-0754-55ce4235e30d}">
          <p14:sldIdLst>
            <p14:sldId id="256"/>
          </p14:sldIdLst>
        </p14:section>
        <p14:section name="Context" id="{a9d68237-1aa7-fad7-9b03-b0aa67259381}">
          <p14:sldIdLst>
            <p14:sldId id="257"/>
            <p14:sldId id="258"/>
          </p14:sldIdLst>
        </p14:section>
        <p14:section name="Roadmap" id="{a90ad527-584f-9a26-d741-af3f15ea29ba}">
          <p14:sldIdLst>
            <p14:sldId id="259"/>
            <p14:sldId id="260"/>
            <p14:sldId id="261"/>
            <p14:sldId id="262"/>
          </p14:sldIdLst>
        </p14:section>
        <p14:section name="Evidence" id="{a9f6f53c-f5e2-e058-cd64-df705b4c477d}">
          <p14:sldIdLst>
            <p14:sldId id="263"/>
          </p14:sldIdLst>
        </p14:section>
        <p14:section name="Close" id="{c5a30695-1d6a-da63-53e7-8be4e76848a4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where Genesis Capital CRM can go next. Everything here builds on the platform shown in the demo — the same objects, workflows, approvals, portal and integration hub — so most modules are configuration plus targeted engineering, not a new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matters: anything already covered — collections actions, personal dealing, gifts, STRs, events, covenants — is deliberately not proposed again. The twelve modules that follow are genuinely new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Deloitte also projects a 30–100% productivity uplift for advisers by 2032 from agentic AI. Regulatory dates should be confirmed with your compliance team; the KPMG alert is the source for the CRS 2.0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logic: wave 1 closes regulatory exposure and the biggest revenue leak (onboarding drop-off), and delivers the reporting layer the later modules depend on. Wave 2 deepens private capital and credit; it needs two-way calendar sync first. Wave 3 extends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wave-1 module closes a regulatory exposure or a known gap: CRS 2.0 timing, onboarding drop-off and the e-KYC/OCR gap, adviser admin time, and reports on Genesis Capital’s own objects. The copilot starts with briefs and summaries; full Q&amp;A follows once data-protection controls are agreed (Data Protection Act 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2 builds directly on objects that already exist: covenant tests, financial spreads and collections actions for credit; investor targets, funds and distribution notices for fundraising; party relationships and client groups for the household graph. Prerequisite: two-way calendar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3 extends reach. Two areas are deliberately not recommended: corporate / transaction banking (cash management, trade finance) belongs to core banking, and insurance distribution is outside Genesis Capital’s business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Comms surveillance, partner channel, mobile and ESG are omitted from the grid: they are typically delivered through specialist vendors or general app frameworks rather than a CRM module. Treat the grid as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which wave-1 module matters most to them. Regulatory specifics (CRS 2.0 timing, the BoM classification and provisioning guideline, FSC return formats) must be confirmed with their compliance and legal teams before scoping.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Genesis Capital CRM  ·  Module roadmap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BFC"/>
                </a:solidFill>
              </a:rPr>
              <a:t>MODULE ROADMAP  ·  OCTOBER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Extending Genesis Capital CRM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Twelve modules, benchmarked against the leading financial-services CRMs, to take a capital group from a strong core to best-in-class.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0–4 months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342900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4203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4–9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3429000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C026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3730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9–15 months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WHERE WE START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core of every desk is already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536924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33856" y="14538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 &amp; growth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38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Enquiries, Client 360, cross-sell &amp; RM workbench, marketing &amp; consent, introducers, revenue, service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261872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444752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460" y="1536924"/>
            <a:ext cx="199705" cy="199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41064" y="14538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Lending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1938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Retail and commercial origination, collateral &amp; pledges, servicing, collections actions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71616" y="1261872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444752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668" y="1536924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48272" y="14538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Investments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54496" y="19385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Wealth mandates, suitability, fund distribution &amp; NAV, securities orders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310969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33856" y="30266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Advisory &amp; forex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5112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Mandates, deal teams, insider lists, IOIs; FX quotes, deals and rate alerts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64408" y="2834640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7288" y="3017520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460" y="310969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41064" y="30266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47288" y="35112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KYC/AML &amp; screening, STRs, conflicts, gifts, personal dealing, barriers, audit chain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71616" y="2834640"/>
            <a:ext cx="2651760" cy="1426464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54496" y="3017520"/>
            <a:ext cx="384048" cy="38404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668" y="3109692"/>
            <a:ext cx="199705" cy="199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48272" y="30266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Digital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254496" y="351129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Client &amp; introducer portal, web forms, website feeds, integration hub (7 providers)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25 PRD modules · 19 workspace modules · 91 business objects · 89 workflows · 15 dashboards · English and French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WHY EXTEND NOW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pressures every capital group is facing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56816" cy="301752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4813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~70%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94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an adviser’s time goes on behind-the-scenes work, not clients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Answered by
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AI copilot · relationship intelligence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Deloitte Insights, May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56816" cy="301752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61488" y="14813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68%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194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European consumers abandoned a financial application in a year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Answered by
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Digital onboarding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Signicat, The Battle to Onboard, 2022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56816" cy="301752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64608" y="14813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US$85bn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194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yearly cost of financial-crime compliance in EMEA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Answered by
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Regulatory returns · surveillance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LexisNexis Risk Solutions / Forrester,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56816" cy="3017520"/>
          </a:xfrm>
          <a:prstGeom prst="roundRect">
            <a:avLst>
              <a:gd name="adj" fmla="val 560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67728" y="14813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2027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2194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reporting deadline under CRS 2.0, in force in Mauritius since 1 Jan 2026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3383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Answered by
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Tax &amp; regulatory returns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KPMG Tax Alert, June 2026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079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Sources: Deloitte, “The agentic AI productivity wave is heading for wealth management” (2026); Signicat (2022, 7,600 consumers); LexisNexis Risk Solutions True Cost of Compliance – EMEA (Mar 2024); KPMG Tax Alert – CRS 2.0 (Jun 2026).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Twelve modules in three waves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Now  ·  0–4 months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Comply &amp; convert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Tax &amp; regulatory returns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2037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06040" y="22037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M–L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578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Digital onboarding &amp; e-KYC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660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06040" y="2660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0358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advisor copilot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31181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06040" y="3118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493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Analytics &amp; self-service BI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06040" y="35753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06040" y="3575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64408" y="1261872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47288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  ·  4–9 months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Private capital &amp; credit depth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21214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01568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Credit early warning &amp; IFRS 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13248" y="22037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13248" y="22037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25786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01568" y="2578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Fundraising &amp; capital calls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13248" y="2660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13248" y="2660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64408" y="30358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30358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Goals &amp; household / UBO graph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13248" y="31181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13248" y="3118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64408" y="34930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401568" y="34930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Comms capture &amp; surveillance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13248" y="35753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13248" y="35753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64408" y="39502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01568" y="39502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Relationship intelligence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13248" y="40325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413248" y="4032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M–L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71616" y="1261872"/>
            <a:ext cx="2651760" cy="713232"/>
          </a:xfrm>
          <a:prstGeom prst="roundRect">
            <a:avLst>
              <a:gd name="adj" fmla="val 12821"/>
            </a:avLst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54496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Later  ·  9–15 months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254496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Reach &amp; differentiate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71616" y="21214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08776" y="21214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Partner / IFA channel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220456" y="22037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220456" y="22037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71616" y="25786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08776" y="2578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Client mobile app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220456" y="2660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20456" y="2660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71616" y="3035808"/>
            <a:ext cx="265176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208776" y="30358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Sustainability preferences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220456" y="31181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220456" y="3118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Effort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 = configuration on existing objects  ·  M = configuration plus targeted build  ·  L = new engine or ledger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NOW · FIRST 4 MONTHS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Wave 1 — comply and convert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920240" cy="3063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26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523025"/>
            <a:ext cx="209215" cy="2092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82880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M–L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Tax &amp; regulatory returns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4323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CRS / FATCA self-certification and indicia checks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Yearly reportable-account run and MRA file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FSC / BoM return calendar with checker sign-off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Rarely native in CRMs — a differentiator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0" y="1261872"/>
            <a:ext cx="1920240" cy="3063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24912" y="1426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473" y="1523025"/>
            <a:ext cx="209215" cy="20921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3192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93192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2724912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Digital onboarding &amp; e-KYC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724912" y="24323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Multi-product journeys, save and resume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ID OCR and liveness via a provider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Drop-off funnel with resume nudges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724912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Salesforce FSC, Microsoft Cloud for FS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63440" y="1261872"/>
            <a:ext cx="1920240" cy="3063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28032" y="1426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593" y="1523025"/>
            <a:ext cx="209215" cy="20921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3504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03504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4828032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advisor copilot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828032" y="24323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Pre-meeting brief from the client record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Meeting summary into notes and tasks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Q&amp;A that respects Chinese walls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828032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Salesforce FSC advisor agent (2025–26)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66560" y="1261872"/>
            <a:ext cx="1920240" cy="3063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31152" y="14264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713" y="1523025"/>
            <a:ext cx="209215" cy="20921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13816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13816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6931152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Analytics &amp; self-service BI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931152" y="24323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Reports on every business object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Certified AUM, revenue and arrears metrics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Row security follows barriers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931152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Salesforce Data Cloud, Microsoft Fabric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NEXT · MONTHS 4 TO 9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Wave 2 — private capital and credit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499616" cy="306324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26464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523025"/>
            <a:ext cx="209215" cy="2092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08176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08176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20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Credit early warning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432304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Bureau, arrears, covenant signals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Watchlist, internal rating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IFRS 9 stages, workout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82219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nCino Continuous Credit Monitoring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39696" y="1261872"/>
            <a:ext cx="1499616" cy="306324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04288" y="1426464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49" y="1523025"/>
            <a:ext cx="209215" cy="20921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090672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090672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2304288" y="1920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Fundraising &amp; capital calls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304288" y="2432304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LP pipeline to commitment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Data room, view tracking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Called / unfunded ledgers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304288" y="382219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Juniper Square, Dynamo, DealCloud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822192" y="1261872"/>
            <a:ext cx="1499616" cy="306324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86784" y="1426464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345" y="1523025"/>
            <a:ext cx="209215" cy="20921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73168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773168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986784" y="1920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Household &amp; UBO graph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986784" y="2432304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People, trusts, owners mapped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Life goals on accounts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Held-away assets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3986784" y="382219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Salesforce Actionable Relationship Center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504688" y="1261872"/>
            <a:ext cx="1499616" cy="306324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0" y="1426464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841" y="1523025"/>
            <a:ext cx="209215" cy="20921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455664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455664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1920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Comms surveillance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669280" y="2432304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Email, chat, calls captured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Alert review queue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Orders vs insider lists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5669280" y="382219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Archive vendors via CRM integration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187184" y="1261872"/>
            <a:ext cx="1499616" cy="306324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351776" y="1426464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337" y="1523025"/>
            <a:ext cx="209215" cy="20921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13816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813816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M–L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351776" y="1920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Relationship intelligence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7351776" y="2432304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Email, calendar capture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Strength scores, warm paths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Stale-contact alerts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7351776" y="3822192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Intapp DealCloud, Affinity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LATER · MONTHS 9 TO 15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Wave 3 — reach and differentiate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621280" cy="269748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2646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523025"/>
            <a:ext cx="209215" cy="2092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2984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2984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20240"/>
            <a:ext cx="232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Partner / IFA &amp; broker channel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432304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Intermediary onboarding and due diligence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Product selling agreements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Channel production dashboards and co-selling portal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3456432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Extends today’s introducer module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1360" y="1261872"/>
            <a:ext cx="2621280" cy="269748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5952" y="142646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513" y="1523025"/>
            <a:ext cx="209215" cy="20921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3400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3400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3425952" y="1920240"/>
            <a:ext cx="232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Client mobile app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425952" y="2432304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Portfolio and loan views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FX quote acceptance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Push alerts: rates, margin calls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425952" y="3456432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Builds on the client portal’s APIs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65520" y="1261872"/>
            <a:ext cx="2621280" cy="269748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30112" y="142646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73" y="1523025"/>
            <a:ext cx="209215" cy="20921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138160" y="1517904"/>
            <a:ext cx="384048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138160" y="15179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6230112" y="1920240"/>
            <a:ext cx="2328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Sustainability preferences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230112" y="2432304"/>
            <a:ext cx="234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Preference questions in risk profiling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ESG tags on products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Mismatch alerts on orders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230112" y="3456432"/>
            <a:ext cx="234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Benchmark  </a:t>
            </a:r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88% of investors interested (Morgan Stanley, 2025)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4096512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8580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Deliberately left out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Corporate / transaction banking (core-banking territory)  ·  Insurance distribution (outside the six business units)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BENCHMARK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the leading platforms already compete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Salesforce FSC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Microsoft FS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Intapp DealCloud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Juniper Sq. / Dynamo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nCino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Affinity</a:t>
                      </a:r>
                      <a:endParaRPr lang="en-US" sz="10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Tax &amp; regulatory returns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Digital onboarding &amp; e-KYC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AI advisor copilot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Analytics &amp; self-service BI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Credit early warning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Fundraising &amp; capital calls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Household / UBO graph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Relationship intelligence</a:t>
                      </a:r>
                      <a:endParaRPr lang="en-US" sz="11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●</a:t>
                      </a:r>
                      <a:endParaRPr lang="en-US" sz="1300" dirty="0"/>
                    </a:p>
                  </a:txBody>
                  <a:tcPr marL="5486400" marR="5486400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Our edge: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Genesis already puts lending, wealth, funds, advisory, forex and compliance on one record, configured for your group — and none of these vendors markets Mauritian CRS / FSC returns as a native module.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079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● capability marketed by the vendor (vendor and partner material, 2024–2026; not hands-on verified). Blank means no evidence found, not confirmed absence.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BFC"/>
                </a:solidFill>
              </a:rPr>
              <a:t>WHY IT IS FAST ON GENESIS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New modules reuse what already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Objects &amp; fields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defined in the Builder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78608" y="1600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17099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78608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Workflows &amp; approvals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578608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four-eyes, SLAs, escalation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08576" y="1600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7099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08576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Portal &amp; documents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608576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client-facing from day one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38544" y="1600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17099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38544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hub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638544" y="2423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</a:rPr>
              <a:t>providers plug in, retries built in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01752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BFC"/>
                </a:solidFill>
              </a:rPr>
              <a:t>PROPOSED NEXT STEPS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474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Pick two wave-1 modules for a 2-week discovery sprint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Confirm regulatory scope with your compliance team (CRS 2.0, FSC / BoM returns)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Agree success measures: onboarding completion, adviser hours saved, filing effort</a:t>
            </a:r>
            <a:endParaRPr lang="en-US" sz="1300" dirty="0"/>
          </a:p>
        </p:txBody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548640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Capital">
  <a:themeElements>
    <a:clrScheme name="Genesis Capital">
      <a:dk1>
        <a:srgbClr val="1F2937"/>
      </a:dk1>
      <a:lt1>
        <a:srgbClr val="FFFFFF"/>
      </a:lt1>
      <a:dk2>
        <a:srgbClr val="14123A"/>
      </a:dk2>
      <a:lt2>
        <a:srgbClr val="F3F2FF"/>
      </a:lt2>
      <a:accent1>
        <a:srgbClr val="4F46E5"/>
      </a:accent1>
      <a:accent2>
        <a:srgbClr val="C026D3"/>
      </a:accent2>
      <a:accent3>
        <a:srgbClr val="7C3AED"/>
      </a:accent3>
      <a:accent4>
        <a:srgbClr val="0D9488"/>
      </a:accent4>
      <a:accent5>
        <a:srgbClr val="D97706"/>
      </a:accent5>
      <a:accent6>
        <a:srgbClr val="64748B"/>
      </a:accent6>
      <a:hlink>
        <a:srgbClr val="4F46E5"/>
      </a:hlink>
      <a:folHlink>
        <a:srgbClr val="7C3AED"/>
      </a:folHlink>
    </a:clrScheme>
    <a:fontScheme name="Genesis Capit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Genesis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Genesis CRM</dc:creator>
  <cp:lastModifiedBy>Genesis CRM</cp:lastModifiedBy>
  <cp:revision>1</cp:revision>
  <dcterms:created xsi:type="dcterms:W3CDTF">2026-10-21T11:19:00Z</dcterms:created>
  <dcterms:modified xsi:type="dcterms:W3CDTF">2026-10-21T11:19:00Z</dcterms:modified>
</cp:coreProperties>
</file>